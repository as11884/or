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858000" cy="9144000"/>
  <p:embeddedFontLst>
    <p:embeddedFont>
      <p:font typeface="Montserrat Black"/>
      <p:bold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Montserrat ExtraBold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8C5852-7C7A-4EEE-9DCE-1D5B4F92E550}">
  <a:tblStyle styleId="{258C5852-7C7A-4EEE-9DCE-1D5B4F92E5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4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6.xml"/><Relationship Id="rId44" Type="http://schemas.openxmlformats.org/officeDocument/2006/relationships/font" Target="fonts/MontserratExtraBold-boldItalic.fntdata"/><Relationship Id="rId21" Type="http://schemas.openxmlformats.org/officeDocument/2006/relationships/slide" Target="slides/slide15.xml"/><Relationship Id="rId43" Type="http://schemas.openxmlformats.org/officeDocument/2006/relationships/font" Target="fonts/MontserratExtraBol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MontserratBlack-bold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0.xml"/><Relationship Id="rId38" Type="http://schemas.openxmlformats.org/officeDocument/2006/relationships/font" Target="fonts/MontserratBlack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ef66f8a0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28ef66f8a07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c6c5186e5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2c6c5186e5c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6c5186e5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2c6c5186e5c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6c5186e5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2c6c5186e5c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c6c5186e5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2c6c5186e5c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6c5186e5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2c6c5186e5c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6c5186e5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2c6c5186e5c_1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6c5186e5c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2c6c5186e5c_1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c6c5186e5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c6c5186e5c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c6c5186e5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c6c5186e5c_0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c6c5186e5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c6c5186e5c_0_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c6c5186e5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c6c5186e5c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c6c5186e5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2c6c5186e5c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c6c5186e5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2c6c5186e5c_1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c6c5186e5c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2c6c5186e5c_1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c6c5186e5c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c6c5186e5c_1_2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c6c5186e5c_1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c6c5186e5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2c6c5186e5c_1_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c6c5186e5c_1_2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c6c5186e5c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2c6c5186e5c_1_23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c708c6c677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c708c6c6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2c708c6c677_0_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c708c6c677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c708c6c67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2c708c6c677_0_2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c708c6c677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c708c6c67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2c708c6c677_0_3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c6c5186e5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2c6c5186e5c_0_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c70fc3205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2c70fc32053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c70fc320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2c70fc32053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c70fc3205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2c70fc32053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c70fc320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2c70fc3205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c70fc3205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2c70fc32053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>
  <p:cSld name="TITLE_1">
    <p:bg>
      <p:bgPr>
        <a:solidFill>
          <a:srgbClr val="57068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type="title"/>
          </p:nvPr>
        </p:nvSpPr>
        <p:spPr>
          <a:xfrm>
            <a:off x="316949" y="1658591"/>
            <a:ext cx="8265600" cy="2546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570596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307600" y="4159667"/>
            <a:ext cx="4761000" cy="10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64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2" type="body"/>
          </p:nvPr>
        </p:nvSpPr>
        <p:spPr>
          <a:xfrm>
            <a:off x="307600" y="5526733"/>
            <a:ext cx="2436000" cy="87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•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406400" lvl="1" marL="914400" rtl="0">
              <a:lnSpc>
                <a:spcPct val="125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Char char="–"/>
              <a:defRPr>
                <a:solidFill>
                  <a:srgbClr val="FFFFFF"/>
                </a:solidFill>
              </a:defRPr>
            </a:lvl2pPr>
            <a:lvl3pPr indent="-381000" lvl="2" marL="1371600" rtl="0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3pPr>
            <a:lvl4pPr indent="-355600" lvl="3" marL="1828800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–"/>
              <a:defRPr>
                <a:solidFill>
                  <a:srgbClr val="FFFFFF"/>
                </a:solidFill>
              </a:defRPr>
            </a:lvl4pPr>
            <a:lvl5pPr indent="-355600" lvl="4" marL="2286000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Char char="»"/>
              <a:defRPr>
                <a:solidFill>
                  <a:srgbClr val="FFFFFF"/>
                </a:solidFill>
              </a:defRPr>
            </a:lvl5pPr>
            <a:lvl6pPr indent="-355600" lvl="5" marL="2743200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6pPr>
            <a:lvl7pPr indent="-355600" lvl="6" marL="3200400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7pPr>
            <a:lvl8pPr indent="-355600" lvl="7" marL="3657600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8pPr>
            <a:lvl9pPr indent="-355600" lvl="8" marL="4114800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45.png"/><Relationship Id="rId5" Type="http://schemas.openxmlformats.org/officeDocument/2006/relationships/image" Target="../media/image36.png"/><Relationship Id="rId6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4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Relationship Id="rId4" Type="http://schemas.openxmlformats.org/officeDocument/2006/relationships/image" Target="../media/image37.png"/><Relationship Id="rId5" Type="http://schemas.openxmlformats.org/officeDocument/2006/relationships/image" Target="../media/image65.png"/><Relationship Id="rId6" Type="http://schemas.openxmlformats.org/officeDocument/2006/relationships/image" Target="../media/image4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50.png"/><Relationship Id="rId7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Relationship Id="rId4" Type="http://schemas.openxmlformats.org/officeDocument/2006/relationships/image" Target="../media/image66.png"/><Relationship Id="rId5" Type="http://schemas.openxmlformats.org/officeDocument/2006/relationships/image" Target="../media/image53.png"/><Relationship Id="rId6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Relationship Id="rId4" Type="http://schemas.openxmlformats.org/officeDocument/2006/relationships/image" Target="../media/image70.png"/><Relationship Id="rId5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ctrTitle"/>
          </p:nvPr>
        </p:nvSpPr>
        <p:spPr>
          <a:xfrm>
            <a:off x="685800" y="821650"/>
            <a:ext cx="7772400" cy="27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300"/>
              <a:t>A Solution Approach to Valuation With Unhedgeable Risks </a:t>
            </a:r>
            <a:endParaRPr sz="3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300"/>
              <a:t>- A review of </a:t>
            </a:r>
            <a:r>
              <a:rPr lang="en-US" sz="33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Thaleia (2001)</a:t>
            </a:r>
            <a:endParaRPr sz="3300"/>
          </a:p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Ao Shen (as11884@nyu.edu)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200">
                <a:solidFill>
                  <a:schemeClr val="dk1"/>
                </a:solidFill>
              </a:rPr>
              <a:t>Yangyi Zheng (yz8838@nyu.edu)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{258C5852-7C7A-4EEE-9DCE-1D5B4F92E550}</a:tableStyleId>
              </a:tblPr>
              <a:tblGrid>
                <a:gridCol w="79724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The original paper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Supplementary material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Indifference of utility for models with stochastic volatility</a:t>
            </a:r>
            <a:endParaRPr sz="2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Simulation</a:t>
            </a:r>
            <a:endParaRPr sz="22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Conclusion</a:t>
            </a:r>
            <a:endParaRPr sz="22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References</a:t>
            </a:r>
            <a:endParaRPr sz="2200"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Core Idea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Stochastic optimization models of expected utility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Prices are modelled as diffusion processes with correlated diffusion factors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Reduced form solutions</a:t>
            </a:r>
            <a:endParaRPr b="1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Power transformation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Value function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The solution of a linear </a:t>
            </a:r>
            <a:r>
              <a:rPr lang="en-US" sz="2400"/>
              <a:t>parabolic equation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P</a:t>
            </a:r>
            <a:r>
              <a:rPr lang="en-US" sz="2400"/>
              <a:t>ower exponent depending only on the co-efﬁcients of correlation and risk aversion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(1)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investment model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–"/>
            </a:pPr>
            <a:r>
              <a:rPr lang="en-US" sz="2400"/>
              <a:t>a bond and a stock market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Price of the bond Bt 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	where r &gt; 0 is the interest rate</a:t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Price of the stock St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with S0 = S ≥ 0 and Yt  as the “stochastic factor”</a:t>
            </a:r>
            <a:endParaRPr sz="2400"/>
          </a:p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800" y="2610925"/>
            <a:ext cx="2321775" cy="14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 rotWithShape="1">
          <a:blip r:embed="rId4">
            <a:alphaModFix/>
          </a:blip>
          <a:srcRect b="5544" l="0" r="0" t="0"/>
          <a:stretch/>
        </p:blipFill>
        <p:spPr>
          <a:xfrm>
            <a:off x="1039800" y="5147850"/>
            <a:ext cx="5828175" cy="53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(2)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Stochastic factor Yt 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	for Y0 = y ∈ R</a:t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W1t and W2t</a:t>
            </a:r>
            <a:r>
              <a:rPr lang="en-US" sz="2400"/>
              <a:t> are Brownian Motions </a:t>
            </a:r>
            <a:r>
              <a:rPr lang="en-US" sz="2400"/>
              <a:t>correlated with correlation coefficient ρ with −1 ≤ ρ ≤ 1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Rebalance portfolio dynamically at any time s for s ∈ [t, T] and 0 ≤ t ≤ T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                                   (bond + stock market)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25" y="1975875"/>
            <a:ext cx="4943149" cy="59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975" y="4561700"/>
            <a:ext cx="2277125" cy="5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8125" y="5114325"/>
            <a:ext cx="8057199" cy="14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(3)</a:t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Wealth process must also satisfy the state constraint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Objective: maximize his expected utility of terminal wealth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value function of the investor is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utility function is of the separable CRRA type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h : R → R+ being a bounded continuous function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050" y="1858350"/>
            <a:ext cx="3276149" cy="4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050" y="2851012"/>
            <a:ext cx="7018463" cy="5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0050" y="4004704"/>
            <a:ext cx="4414074" cy="68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0050" y="5280625"/>
            <a:ext cx="4326503" cy="6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(4)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Rewrite the value function by homogeneity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 solves a nonlinear equation for which no closed form solutions are available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Novelty! </a:t>
            </a:r>
            <a:endParaRPr sz="2400">
              <a:solidFill>
                <a:srgbClr val="FF0000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Simple transformation that removes certain non-linearities that arise due to the stochastic factor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V can be expressed as the power of the solution of a linear parabolic equation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Reduction from the original fully nonlinear Hamilton-Jacobi-Bellman equation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25" y="1885325"/>
            <a:ext cx="3227976" cy="7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(5)</a:t>
            </a:r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HJB equation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Terminal condition：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Substitute                                       into HJB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462" y="1881325"/>
            <a:ext cx="8805077" cy="15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100" y="3503975"/>
            <a:ext cx="2350549" cy="405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3000" y="4221650"/>
            <a:ext cx="2350551" cy="6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450" y="4874350"/>
            <a:ext cx="8805101" cy="151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(6)</a:t>
            </a:r>
            <a:endParaRPr/>
          </a:p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Terminal condition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FOC: Max is </a:t>
            </a:r>
            <a:r>
              <a:rPr lang="en-US" sz="2400"/>
              <a:t>achieved</a:t>
            </a:r>
            <a:r>
              <a:rPr lang="en-US" sz="2400"/>
              <a:t> at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p22"/>
          <p:cNvPicPr preferRelativeResize="0"/>
          <p:nvPr/>
        </p:nvPicPr>
        <p:blipFill rotWithShape="1">
          <a:blip r:embed="rId3">
            <a:alphaModFix/>
          </a:blip>
          <a:srcRect b="0" l="3984" r="0" t="17012"/>
          <a:stretch/>
        </p:blipFill>
        <p:spPr>
          <a:xfrm>
            <a:off x="3465625" y="3122175"/>
            <a:ext cx="1967000" cy="4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450" y="1417625"/>
            <a:ext cx="8805101" cy="1518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800" y="3738700"/>
            <a:ext cx="2841250" cy="7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4800" y="5308525"/>
            <a:ext cx="7682002" cy="92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(7)</a:t>
            </a:r>
            <a:endParaRPr/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Plug back into HJB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Expand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Let                                      then                          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181" name="Google Shape;181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08865"/>
            <a:ext cx="9143999" cy="727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250" y="3127724"/>
            <a:ext cx="7083501" cy="18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6900" y="5137494"/>
            <a:ext cx="2327350" cy="4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0250" y="5693613"/>
            <a:ext cx="7915240" cy="5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(8)</a:t>
            </a:r>
            <a:endParaRPr/>
          </a:p>
        </p:txBody>
      </p:sp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Substitute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If we choose the parameter δ to satisfy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Then it becomes a linear parabolic differential equation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831200"/>
            <a:ext cx="8686799" cy="1691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8725" y="3935925"/>
            <a:ext cx="2191000" cy="85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(9)</a:t>
            </a:r>
            <a:endParaRPr/>
          </a:p>
        </p:txBody>
      </p:sp>
      <p:sp>
        <p:nvSpPr>
          <p:cNvPr id="200" name="Google Shape;200;p25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We have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where                                                &amp;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δ is the distortion power</a:t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By Feynman-Kac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with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201" name="Google Shape;201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700" y="1830100"/>
            <a:ext cx="7658101" cy="1367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750" y="3389125"/>
            <a:ext cx="3205050" cy="65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4469" y="3389119"/>
            <a:ext cx="3546784" cy="65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000" y="4757475"/>
            <a:ext cx="8592250" cy="88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99250" y="5933250"/>
            <a:ext cx="5497674" cy="4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Walk Through (10)</a:t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Therefore, we see that the value function u is represented as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Or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where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and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4" name="Google Shape;2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900" y="1854419"/>
            <a:ext cx="2990801" cy="7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91954"/>
            <a:ext cx="9144002" cy="97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9925" y="4296450"/>
            <a:ext cx="5497674" cy="47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9925" y="4996800"/>
            <a:ext cx="2191000" cy="85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438725" y="218725"/>
            <a:ext cx="66639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500"/>
              <a:t>Utility </a:t>
            </a:r>
            <a:r>
              <a:rPr lang="en-US" sz="2500"/>
              <a:t>Indifference</a:t>
            </a:r>
            <a:r>
              <a:rPr lang="en-US" sz="2500"/>
              <a:t> Pricing with Stochastic Factor</a:t>
            </a:r>
            <a:endParaRPr sz="2500"/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324475" y="975450"/>
            <a:ext cx="8229600" cy="56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Risky asset</a:t>
            </a:r>
            <a:r>
              <a:rPr lang="en-US" sz="1900"/>
              <a:t> defined as below </a:t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Stochastic Factor defined as </a:t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/>
              <a:t> </a:t>
            </a:r>
            <a:endParaRPr sz="1900"/>
          </a:p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Consider the European Option payoff</a:t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The traditional risk </a:t>
            </a:r>
            <a:r>
              <a:rPr lang="en-US" sz="1900"/>
              <a:t>neutral</a:t>
            </a:r>
            <a:r>
              <a:rPr lang="en-US" sz="1900"/>
              <a:t> pricing formula will not work in this case</a:t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We introduced </a:t>
            </a:r>
            <a:r>
              <a:rPr lang="en-US" sz="1900"/>
              <a:t>additional</a:t>
            </a:r>
            <a:r>
              <a:rPr lang="en-US" sz="1900"/>
              <a:t> Stochastic factor here. The market is not complete; the risk </a:t>
            </a:r>
            <a:r>
              <a:rPr lang="en-US" sz="1900"/>
              <a:t>neutral</a:t>
            </a:r>
            <a:r>
              <a:rPr lang="en-US" sz="1900"/>
              <a:t> measure is not unique in this case.</a:t>
            </a:r>
            <a:endParaRPr sz="1900"/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-US" sz="1900"/>
              <a:t>In BS </a:t>
            </a:r>
            <a:r>
              <a:rPr lang="en-US" sz="1900"/>
              <a:t>framework, we make the discounted stock price to be martingale under risk neutral measure</a:t>
            </a:r>
            <a:r>
              <a:rPr lang="en-US" sz="1900"/>
              <a:t> </a:t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	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5" name="Google Shape;2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5400" y="2376826"/>
            <a:ext cx="5215184" cy="6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6569" y="1367200"/>
            <a:ext cx="2890864" cy="6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6500" y="4497050"/>
            <a:ext cx="2810976" cy="53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8477" y="3487200"/>
            <a:ext cx="1127036" cy="3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457200" y="182176"/>
            <a:ext cx="82296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500"/>
              <a:t>Utility Indifference Pricing with Stochastic Factor</a:t>
            </a:r>
            <a:endParaRPr sz="2500"/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457200" y="1099250"/>
            <a:ext cx="8229600" cy="54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The portfolio process with </a:t>
            </a:r>
            <a:r>
              <a:rPr lang="en-US" sz="1800"/>
              <a:t>initial</a:t>
            </a:r>
            <a:r>
              <a:rPr lang="en-US" sz="1800"/>
              <a:t> capital x investing in risky asset and zero interest rate is</a:t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We define the optimal investment problem with option G as below</a:t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	</a:t>
            </a:r>
            <a:endParaRPr sz="18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With Utility function defined as </a:t>
            </a:r>
            <a:endParaRPr sz="18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The price of the option will be given by</a:t>
            </a:r>
            <a:endParaRPr sz="18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5" name="Google Shape;235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6" name="Google Shape;2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350" y="1525975"/>
            <a:ext cx="3577300" cy="8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4437" y="2907625"/>
            <a:ext cx="4155126" cy="7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9577" y="4278649"/>
            <a:ext cx="1784850" cy="49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8312" y="5429575"/>
            <a:ext cx="5567375" cy="5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417450" y="200554"/>
            <a:ext cx="69780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500"/>
              <a:t>HJB equation of the optimal investment with option</a:t>
            </a:r>
            <a:endParaRPr sz="2500"/>
          </a:p>
        </p:txBody>
      </p:sp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417450" y="960650"/>
            <a:ext cx="83091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For HJB of the V(t, x, y), since it has extra dimension. It will have extra terms for y and </a:t>
            </a:r>
            <a:r>
              <a:rPr lang="en-US" sz="1900"/>
              <a:t>cross</a:t>
            </a:r>
            <a:r>
              <a:rPr lang="en-US" sz="1900"/>
              <a:t> terms.</a:t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We can see that (homogeneity)</a:t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Define</a:t>
            </a:r>
            <a:r>
              <a:rPr lang="en-US" sz="2000"/>
              <a:t> </a:t>
            </a:r>
            <a:r>
              <a:rPr lang="en-US" sz="1900"/>
              <a:t>                  ,                   Then                      s            s   Substitute F back into the HJB equation</a:t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/>
              <a:t>	</a:t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46" name="Google Shape;246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7" name="Google Shape;24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725" y="1837075"/>
            <a:ext cx="7371676" cy="118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6561" y="3540800"/>
            <a:ext cx="5790875" cy="15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6550" y="5158675"/>
            <a:ext cx="2024825" cy="42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7400" y="5158675"/>
            <a:ext cx="2195649" cy="4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457200" y="274625"/>
            <a:ext cx="8229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400"/>
              <a:t>HJB equation of the optimal investment with option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457200" y="901550"/>
            <a:ext cx="8229600" cy="58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Simplify, we can get</a:t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Therefore, we can get the optimal investment policy</a:t>
            </a:r>
            <a:endParaRPr sz="19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The HJB equation turns into</a:t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It is a nonlinear PDE;  Apply the power transformation technique proposed by the paper.</a:t>
            </a:r>
            <a:endParaRPr sz="1900"/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57" name="Google Shape;25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0" y="991300"/>
            <a:ext cx="8321999" cy="668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6975" y="2072075"/>
            <a:ext cx="6050351" cy="727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5125" y="3191975"/>
            <a:ext cx="2235350" cy="7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8901" y="4529900"/>
            <a:ext cx="4946200" cy="10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457200" y="274625"/>
            <a:ext cx="8229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400"/>
              <a:t>Power </a:t>
            </a:r>
            <a:r>
              <a:rPr lang="en-US" sz="2400"/>
              <a:t>transformation</a:t>
            </a:r>
            <a:endParaRPr/>
          </a:p>
        </p:txBody>
      </p:sp>
      <p:sp>
        <p:nvSpPr>
          <p:cNvPr id="267" name="Google Shape;267;p31"/>
          <p:cNvSpPr txBox="1"/>
          <p:nvPr>
            <p:ph idx="1" type="body"/>
          </p:nvPr>
        </p:nvSpPr>
        <p:spPr>
          <a:xfrm>
            <a:off x="457200" y="901550"/>
            <a:ext cx="8229600" cy="58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Using</a:t>
            </a:r>
            <a:endParaRPr sz="19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/>
              <a:t> </a:t>
            </a:r>
            <a:endParaRPr sz="1900"/>
          </a:p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 N</a:t>
            </a:r>
            <a:r>
              <a:rPr lang="en-US" sz="1900"/>
              <a:t>onlinear PDE can be reduced into linear parabolic PDE</a:t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/>
              <a:t>With </a:t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By Feymann-Kac:</a:t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/>
              <a:t>	</a:t>
            </a:r>
            <a:endParaRPr sz="19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/>
              <a:t>	</a:t>
            </a:r>
            <a:endParaRPr sz="19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68" name="Google Shape;268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9" name="Google Shape;2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175" y="818350"/>
            <a:ext cx="2484725" cy="5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8549" y="3246450"/>
            <a:ext cx="1366352" cy="3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8468" y="3817793"/>
            <a:ext cx="3947050" cy="5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5250" y="4375772"/>
            <a:ext cx="6331333" cy="5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8463" y="2169330"/>
            <a:ext cx="4767075" cy="93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>
            <p:ph type="title"/>
          </p:nvPr>
        </p:nvSpPr>
        <p:spPr>
          <a:xfrm>
            <a:off x="457200" y="274630"/>
            <a:ext cx="8133600" cy="639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Utility Indifference </a:t>
            </a:r>
            <a:r>
              <a:rPr lang="en-US" sz="2400"/>
              <a:t>Pricing</a:t>
            </a:r>
            <a:endParaRPr sz="2400"/>
          </a:p>
        </p:txBody>
      </p:sp>
      <p:sp>
        <p:nvSpPr>
          <p:cNvPr id="280" name="Google Shape;280;p32"/>
          <p:cNvSpPr txBox="1"/>
          <p:nvPr>
            <p:ph idx="1" type="body"/>
          </p:nvPr>
        </p:nvSpPr>
        <p:spPr>
          <a:xfrm>
            <a:off x="457200" y="914525"/>
            <a:ext cx="8229600" cy="580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Now we can derive the formula for price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For every 𝝅 in the set, it will satisfy the following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 The infinum will be achieved at equality, therefore, the price will be</a:t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	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/>
              <a:t>	</a:t>
            </a:r>
            <a:r>
              <a:rPr lang="en-US" sz="1900"/>
              <a:t>where</a:t>
            </a:r>
            <a:r>
              <a:rPr lang="en-US" sz="1900"/>
              <a:t> </a:t>
            </a:r>
            <a:endParaRPr sz="1900"/>
          </a:p>
        </p:txBody>
      </p:sp>
      <p:sp>
        <p:nvSpPr>
          <p:cNvPr id="281" name="Google Shape;281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2" name="Google Shape;2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325" y="1263650"/>
            <a:ext cx="5567375" cy="57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5462" y="5020225"/>
            <a:ext cx="3013100" cy="6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8000" y="5885974"/>
            <a:ext cx="4868000" cy="57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1789" y="2334237"/>
            <a:ext cx="4120425" cy="207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/>
          <p:nvPr>
            <p:ph type="title"/>
          </p:nvPr>
        </p:nvSpPr>
        <p:spPr>
          <a:xfrm>
            <a:off x="457200" y="274629"/>
            <a:ext cx="8229600" cy="77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Utility Pricing with hedging</a:t>
            </a:r>
            <a:endParaRPr sz="2400"/>
          </a:p>
        </p:txBody>
      </p:sp>
      <p:sp>
        <p:nvSpPr>
          <p:cNvPr id="292" name="Google Shape;292;p33"/>
          <p:cNvSpPr txBox="1"/>
          <p:nvPr>
            <p:ph idx="1" type="body"/>
          </p:nvPr>
        </p:nvSpPr>
        <p:spPr>
          <a:xfrm>
            <a:off x="457200" y="1106650"/>
            <a:ext cx="8229600" cy="524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Price can be further simplified into the form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where</a:t>
            </a:r>
            <a:endParaRPr sz="18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For hedging amounts in stock, it can be computed by the difference between the amount invested in the stock of </a:t>
            </a:r>
            <a:r>
              <a:rPr lang="en-US" sz="1800"/>
              <a:t>portfolio</a:t>
            </a:r>
            <a:r>
              <a:rPr lang="en-US" sz="1800"/>
              <a:t> with option and portfolio without option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	</a:t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293" name="Google Shape;293;p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4" name="Google Shape;2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626" y="1622650"/>
            <a:ext cx="3692751" cy="4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750" y="2223625"/>
            <a:ext cx="3305700" cy="82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6600" y="4540500"/>
            <a:ext cx="4630800" cy="10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/>
          <p:nvPr>
            <p:ph type="title"/>
          </p:nvPr>
        </p:nvSpPr>
        <p:spPr>
          <a:xfrm>
            <a:off x="457200" y="170404"/>
            <a:ext cx="8229600" cy="77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Specific Example of Heston Model</a:t>
            </a:r>
            <a:endParaRPr sz="2400"/>
          </a:p>
        </p:txBody>
      </p:sp>
      <p:sp>
        <p:nvSpPr>
          <p:cNvPr id="303" name="Google Shape;303;p34"/>
          <p:cNvSpPr txBox="1"/>
          <p:nvPr>
            <p:ph idx="1" type="body"/>
          </p:nvPr>
        </p:nvSpPr>
        <p:spPr>
          <a:xfrm>
            <a:off x="457200" y="1286900"/>
            <a:ext cx="8229600" cy="524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We have to specify the specific dynamics of asset price and stochastic factor</a:t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The relation to the general setting is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The option we are specifying is the traditional European call option.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We are interested in the pricing and </a:t>
            </a:r>
            <a:r>
              <a:rPr lang="en-US" sz="1800"/>
              <a:t>hedging</a:t>
            </a:r>
            <a:r>
              <a:rPr lang="en-US" sz="1800"/>
              <a:t> result under heston model by using the utility pricing method</a:t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4" name="Google Shape;304;p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5" name="Google Shape;3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5800" y="1880275"/>
            <a:ext cx="5292400" cy="8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3175" y="3273700"/>
            <a:ext cx="4017650" cy="5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/>
          <p:nvPr>
            <p:ph type="title"/>
          </p:nvPr>
        </p:nvSpPr>
        <p:spPr>
          <a:xfrm>
            <a:off x="457200" y="274629"/>
            <a:ext cx="8229600" cy="77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Simulation Steps</a:t>
            </a:r>
            <a:endParaRPr sz="2400"/>
          </a:p>
        </p:txBody>
      </p:sp>
      <p:sp>
        <p:nvSpPr>
          <p:cNvPr id="313" name="Google Shape;313;p35"/>
          <p:cNvSpPr txBox="1"/>
          <p:nvPr>
            <p:ph idx="1" type="body"/>
          </p:nvPr>
        </p:nvSpPr>
        <p:spPr>
          <a:xfrm>
            <a:off x="457200" y="1106650"/>
            <a:ext cx="8229600" cy="554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For simulation of prices, we will use</a:t>
            </a:r>
            <a:endParaRPr sz="1800"/>
          </a:p>
          <a:p>
            <a:pPr indent="0" lvl="0" marL="13716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13716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13716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Simulate two series of independent standard normal distributions times the step size.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Simulate stock price and variance process with modified drift based on the dynamics. The simulation of variance under the CIR process could be negative.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Use Monte Carlo to get the value of expectation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Calculate option price</a:t>
            </a:r>
            <a:endParaRPr sz="1800"/>
          </a:p>
          <a:p>
            <a:pPr indent="0" lvl="0" marL="13716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Repeat above steps N times to get the distribution of the price </a:t>
            </a:r>
            <a:endParaRPr sz="1800"/>
          </a:p>
          <a:p>
            <a:pPr indent="0" lvl="0" marL="13716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    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	</a:t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314" name="Google Shape;314;p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5" name="Google Shape;315;p35"/>
          <p:cNvPicPr preferRelativeResize="0"/>
          <p:nvPr/>
        </p:nvPicPr>
        <p:blipFill rotWithShape="1">
          <a:blip r:embed="rId3">
            <a:alphaModFix/>
          </a:blip>
          <a:srcRect b="-16346" l="0" r="-6439" t="0"/>
          <a:stretch/>
        </p:blipFill>
        <p:spPr>
          <a:xfrm>
            <a:off x="2129188" y="1450300"/>
            <a:ext cx="4885625" cy="15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"/>
          <p:cNvSpPr txBox="1"/>
          <p:nvPr>
            <p:ph type="title"/>
          </p:nvPr>
        </p:nvSpPr>
        <p:spPr>
          <a:xfrm>
            <a:off x="457200" y="274629"/>
            <a:ext cx="8229600" cy="77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Simulation Steps</a:t>
            </a:r>
            <a:endParaRPr sz="2400"/>
          </a:p>
        </p:txBody>
      </p:sp>
      <p:sp>
        <p:nvSpPr>
          <p:cNvPr id="322" name="Google Shape;322;p36"/>
          <p:cNvSpPr txBox="1"/>
          <p:nvPr>
            <p:ph idx="1" type="body"/>
          </p:nvPr>
        </p:nvSpPr>
        <p:spPr>
          <a:xfrm>
            <a:off x="457200" y="1106650"/>
            <a:ext cx="8229600" cy="569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Once get the result of the price, we can compute the hedging amounts in stock</a:t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 compute the derivative, using forward difference</a:t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The result is bad – the hedging </a:t>
            </a:r>
            <a:r>
              <a:rPr lang="en-US" sz="1800"/>
              <a:t>amounts</a:t>
            </a:r>
            <a:r>
              <a:rPr lang="en-US" sz="1800"/>
              <a:t> in stocks is big and the direction is unstable.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Error term seems to dominate in the computation of derivative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are in the error term?</a:t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Forward Euler,  Integration(Simpson's rule), standard error in Monte Carlo …</a:t>
            </a:r>
            <a:endParaRPr sz="18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Small stepsizes and More simulations will make it better?</a:t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323" name="Google Shape;323;p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4" name="Google Shape;3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6476" y="1511525"/>
            <a:ext cx="3851051" cy="9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1349" y="2711113"/>
            <a:ext cx="3481300" cy="67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0949" y="4116774"/>
            <a:ext cx="4142100" cy="616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32" name="Google Shape;332;p37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333" name="Google Shape;333;p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4" name="Google Shape;334;p37"/>
          <p:cNvPicPr preferRelativeResize="0"/>
          <p:nvPr/>
        </p:nvPicPr>
        <p:blipFill rotWithShape="1">
          <a:blip r:embed="rId3">
            <a:alphaModFix/>
          </a:blip>
          <a:srcRect b="0" l="0" r="9999" t="0"/>
          <a:stretch/>
        </p:blipFill>
        <p:spPr>
          <a:xfrm>
            <a:off x="457200" y="1417625"/>
            <a:ext cx="8229601" cy="47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40" name="Google Shape;340;p38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341" name="Google Shape;341;p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2" name="Google Shape;3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5" y="1400151"/>
            <a:ext cx="7771419" cy="488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48" name="Google Shape;348;p39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349" name="Google Shape;349;p3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0" name="Google Shape;35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99975"/>
            <a:ext cx="7954157" cy="50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56" name="Google Shape;356;p40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357" name="Google Shape;357;p4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8" name="Google Shape;3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00" y="1373612"/>
            <a:ext cx="7778005" cy="493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64" name="Google Shape;364;p41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365" name="Google Shape;365;p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6" name="Google Shape;3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7625"/>
            <a:ext cx="7761792" cy="49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72" name="Google Shape;372;p42"/>
          <p:cNvSpPr txBox="1"/>
          <p:nvPr>
            <p:ph idx="1" type="body"/>
          </p:nvPr>
        </p:nvSpPr>
        <p:spPr>
          <a:xfrm>
            <a:off x="457200" y="1417625"/>
            <a:ext cx="8229600" cy="4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Paper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Great idea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Not clear in the examples section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xxx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xxx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Applications in paper</a:t>
            </a:r>
            <a:endParaRPr sz="2400"/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Utility pricing</a:t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Simulation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Prices go up when</a:t>
            </a:r>
            <a:endParaRPr sz="24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ρ -&gt; 0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-&gt; 1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Strike decreases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 increases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hard to compute hedging portfolio(errors)</a:t>
            </a:r>
            <a:endParaRPr sz="24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</a:endParaRPr>
          </a:p>
        </p:txBody>
      </p:sp>
      <p:sp>
        <p:nvSpPr>
          <p:cNvPr id="373" name="Google Shape;373;p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"/>
          <p:cNvSpPr txBox="1"/>
          <p:nvPr>
            <p:ph type="title"/>
          </p:nvPr>
        </p:nvSpPr>
        <p:spPr>
          <a:xfrm>
            <a:off x="457200" y="556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379" name="Google Shape;379;p43"/>
          <p:cNvSpPr txBox="1"/>
          <p:nvPr>
            <p:ph idx="1" type="body"/>
          </p:nvPr>
        </p:nvSpPr>
        <p:spPr>
          <a:xfrm>
            <a:off x="422150" y="12761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Zariphopoulou, Thaleia. (2001). A Solution Approach to Valuation With Unhedgeable Risks. Finance and Stochastics. 5. 61-82. 10.1007/PL00000040.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380" name="Google Shape;380;p4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